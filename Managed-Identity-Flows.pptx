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BD4C0"/>
                </a:solidFill>
                <a:latin typeface="Calibri"/>
              </a:rPr>
              <a:t>MANAGED IDENTITY BY VALYD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E8EEF3"/>
                </a:solidFill>
                <a:latin typeface="Calibri"/>
              </a:rPr>
              <a:t>How the flows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9AA8B4"/>
                </a:solidFill>
                <a:latin typeface="Calibri"/>
              </a:rPr>
              <a:t>Login with Valyd + verify-on-demand. Three views: Dev flow, User flow, Data 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83280"/>
            <a:ext cx="10881360" cy="777240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2B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456432"/>
            <a:ext cx="1042416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BD4C0"/>
                </a:solidFill>
                <a:latin typeface="Calibri"/>
              </a:rPr>
              <a:t>Mental model:  </a:t>
            </a:r>
            <a:r>
              <a:rPr sz="1300" b="0">
                <a:solidFill>
                  <a:srgbClr val="E8EEF3"/>
                </a:solidFill>
                <a:latin typeface="Calibri"/>
              </a:rPr>
              <a:t>the IdP knows </a:t>
            </a:r>
            <a:r>
              <a:rPr sz="1300" b="1">
                <a:solidFill>
                  <a:srgbClr val="2BD4C0"/>
                </a:solidFill>
                <a:latin typeface="Calibri"/>
              </a:rPr>
              <a:t>who you are</a:t>
            </a:r>
            <a:r>
              <a:rPr sz="1300" b="0">
                <a:solidFill>
                  <a:srgbClr val="E8EEF3"/>
                </a:solidFill>
                <a:latin typeface="Calibri"/>
              </a:rPr>
              <a:t>, verify </a:t>
            </a:r>
            <a:r>
              <a:rPr sz="1300" b="1">
                <a:solidFill>
                  <a:srgbClr val="2BD4C0"/>
                </a:solidFill>
                <a:latin typeface="Calibri"/>
              </a:rPr>
              <a:t>does the checking</a:t>
            </a:r>
            <a:r>
              <a:rPr sz="1300" b="0">
                <a:solidFill>
                  <a:srgbClr val="E8EEF3"/>
                </a:solidFill>
                <a:latin typeface="Calibri"/>
              </a:rPr>
              <a:t>, and the dev's backend ties them together by passing the user's Valyd token into the verification session.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80560"/>
            <a:ext cx="2084831" cy="1371600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37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1" y="4645152"/>
            <a:ext cx="146304" cy="146304"/>
          </a:xfrm>
          <a:prstGeom prst="ellipse">
            <a:avLst/>
          </a:prstGeom>
          <a:solidFill>
            <a:srgbClr val="2B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4828032"/>
            <a:ext cx="1810511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8EEF3"/>
                </a:solidFill>
                <a:latin typeface="Calibri"/>
              </a:rPr>
              <a:t>End user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AA8B4"/>
                </a:solidFill>
                <a:latin typeface="Calibri"/>
              </a:rPr>
              <a:t>logs in with Valyd, does the verification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2" y="4480560"/>
            <a:ext cx="2084831" cy="1371600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37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80944" y="4645152"/>
            <a:ext cx="146304" cy="146304"/>
          </a:xfrm>
          <a:prstGeom prst="ellipse">
            <a:avLst/>
          </a:prstGeom>
          <a:solidFill>
            <a:srgbClr val="B8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2656" y="4828032"/>
            <a:ext cx="1810511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8EEF3"/>
                </a:solidFill>
                <a:latin typeface="Calibri"/>
              </a:rPr>
              <a:t>Dev app (backend)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AA8B4"/>
                </a:solidFill>
                <a:latin typeface="Calibri"/>
              </a:rPr>
              <a:t>starts login + verification, reads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2624" y="4480560"/>
            <a:ext cx="2084831" cy="1371600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37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57216" y="4645152"/>
            <a:ext cx="146304" cy="146304"/>
          </a:xfrm>
          <a:prstGeom prst="ellipse">
            <a:avLst/>
          </a:prstGeom>
          <a:solidFill>
            <a:srgbClr val="9A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4828032"/>
            <a:ext cx="1810511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8EEF3"/>
                </a:solidFill>
                <a:latin typeface="Calibri"/>
              </a:rPr>
              <a:t>dev.pollus.tech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AA8B4"/>
                </a:solidFill>
                <a:latin typeface="Calibri"/>
              </a:rPr>
              <a:t>OAuth client registry — client_id / secret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68896" y="4480560"/>
            <a:ext cx="2084831" cy="1371600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37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33488" y="4645152"/>
            <a:ext cx="146304" cy="146304"/>
          </a:xfrm>
          <a:prstGeom prst="ellipse">
            <a:avLst/>
          </a:prstGeom>
          <a:solidFill>
            <a:srgbClr val="2B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4828032"/>
            <a:ext cx="1810511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8EEF3"/>
                </a:solidFill>
                <a:latin typeface="Calibri"/>
              </a:rPr>
              <a:t>IdP (idp.valyd.id)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AA8B4"/>
                </a:solidFill>
                <a:latin typeface="Calibri"/>
              </a:rPr>
              <a:t>authenticates + system of record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45167" y="4480560"/>
            <a:ext cx="2084831" cy="1371600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37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09759" y="4645152"/>
            <a:ext cx="146304" cy="146304"/>
          </a:xfrm>
          <a:prstGeom prst="ellipse">
            <a:avLst/>
          </a:prstGeom>
          <a:solidFill>
            <a:srgbClr val="E0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91472" y="4828032"/>
            <a:ext cx="1810511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8EEF3"/>
                </a:solidFill>
                <a:latin typeface="Calibri"/>
              </a:rPr>
              <a:t>verify.pollus.tech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AA8B4"/>
                </a:solidFill>
                <a:latin typeface="Calibri"/>
              </a:rPr>
              <a:t>runs checks, writes back, keeps a copy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BD4C0"/>
                </a:solidFill>
                <a:latin typeface="Calibri"/>
              </a:rPr>
              <a:t>① DEV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E8EEF3"/>
                </a:solidFill>
                <a:latin typeface="Calibri"/>
              </a:rPr>
              <a:t>How a developer integrates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005840" cy="41148"/>
          </a:xfrm>
          <a:prstGeom prst="rect">
            <a:avLst/>
          </a:prstGeom>
          <a:solidFill>
            <a:srgbClr val="2B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6583680" cy="566928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37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444752"/>
            <a:ext cx="329184" cy="329184"/>
          </a:xfrm>
          <a:prstGeom prst="ellipse">
            <a:avLst/>
          </a:prstGeom>
          <a:solidFill>
            <a:srgbClr val="2B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E131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1362456"/>
            <a:ext cx="5943600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8EEF3"/>
                </a:solidFill>
                <a:latin typeface="Calibri"/>
              </a:rPr>
              <a:t>Register at dev.pollus.tech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AA8B4"/>
                </a:solidFill>
                <a:latin typeface="Calibri"/>
              </a:rPr>
              <a:t>Get client_id + client_secret, set redirect URIs + scopes (profile, verifications…).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31920" y="1892807"/>
            <a:ext cx="0" cy="105157"/>
          </a:xfrm>
          <a:prstGeom prst="line">
            <a:avLst/>
          </a:prstGeom>
          <a:ln w="22225">
            <a:solidFill>
              <a:srgbClr val="2BD4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1997964"/>
            <a:ext cx="6583680" cy="566928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37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2116836"/>
            <a:ext cx="329184" cy="329184"/>
          </a:xfrm>
          <a:prstGeom prst="ellipse">
            <a:avLst/>
          </a:prstGeom>
          <a:solidFill>
            <a:srgbClr val="2B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E131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2034540"/>
            <a:ext cx="5943600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8EEF3"/>
                </a:solidFill>
                <a:latin typeface="Calibri"/>
              </a:rPr>
              <a:t>Set up the verify console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AA8B4"/>
                </a:solidFill>
                <a:latin typeface="Calibri"/>
              </a:rPr>
              <a:t>Create App → copy API key (server-side) + top up balance. Create Managed workflow → workflow_id. Add webhook + secret.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1920" y="2564892"/>
            <a:ext cx="0" cy="105156"/>
          </a:xfrm>
          <a:prstGeom prst="line">
            <a:avLst/>
          </a:prstGeom>
          <a:ln w="22225">
            <a:solidFill>
              <a:srgbClr val="2BD4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" y="2670048"/>
            <a:ext cx="6583680" cy="566928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37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2788920"/>
            <a:ext cx="329184" cy="329184"/>
          </a:xfrm>
          <a:prstGeom prst="ellipse">
            <a:avLst/>
          </a:prstGeom>
          <a:solidFill>
            <a:srgbClr val="2B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E1318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2706624"/>
            <a:ext cx="5943600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8EEF3"/>
                </a:solidFill>
                <a:latin typeface="Calibri"/>
              </a:rPr>
              <a:t>Add 'Login with Valyd'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AA8B4"/>
                </a:solidFill>
                <a:latin typeface="Calibri"/>
              </a:rPr>
              <a:t>Button redirects to the IdP authorize URL with your scopes.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31920" y="3236976"/>
            <a:ext cx="0" cy="105156"/>
          </a:xfrm>
          <a:prstGeom prst="line">
            <a:avLst/>
          </a:prstGeom>
          <a:ln w="22225">
            <a:solidFill>
              <a:srgbClr val="2BD4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" y="3342132"/>
            <a:ext cx="6583680" cy="566928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37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3461003"/>
            <a:ext cx="329184" cy="329184"/>
          </a:xfrm>
          <a:prstGeom prst="ellipse">
            <a:avLst/>
          </a:prstGeom>
          <a:solidFill>
            <a:srgbClr val="2B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E1318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378708"/>
            <a:ext cx="5943600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8EEF3"/>
                </a:solidFill>
                <a:latin typeface="Calibri"/>
              </a:rPr>
              <a:t>Exchange the code (backend)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AA8B4"/>
                </a:solidFill>
                <a:latin typeface="Calibri"/>
              </a:rPr>
              <a:t>POST /tpsso/token with client_secret → access_token + pollus_id. Set your own session.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31920" y="3909059"/>
            <a:ext cx="0" cy="105156"/>
          </a:xfrm>
          <a:prstGeom prst="line">
            <a:avLst/>
          </a:prstGeom>
          <a:ln w="22225">
            <a:solidFill>
              <a:srgbClr val="2BD4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" y="4014215"/>
            <a:ext cx="6583680" cy="566928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37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9808" y="4133087"/>
            <a:ext cx="329184" cy="329184"/>
          </a:xfrm>
          <a:prstGeom prst="ellipse">
            <a:avLst/>
          </a:prstGeom>
          <a:solidFill>
            <a:srgbClr val="2B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E1318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7" y="4050791"/>
            <a:ext cx="5943600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8EEF3"/>
                </a:solidFill>
                <a:latin typeface="Calibri"/>
              </a:rPr>
              <a:t>Start a check (backend)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AA8B4"/>
                </a:solidFill>
                <a:latin typeface="Calibri"/>
              </a:rPr>
              <a:t>POST /api/v2/session  ·  X-API-Key + workflow_id + valyd_access_token.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31920" y="4581144"/>
            <a:ext cx="0" cy="105156"/>
          </a:xfrm>
          <a:prstGeom prst="line">
            <a:avLst/>
          </a:prstGeom>
          <a:ln w="22225">
            <a:solidFill>
              <a:srgbClr val="2BD4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0080" y="4686300"/>
            <a:ext cx="6583680" cy="566928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37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9808" y="4805172"/>
            <a:ext cx="329184" cy="329184"/>
          </a:xfrm>
          <a:prstGeom prst="ellipse">
            <a:avLst/>
          </a:prstGeom>
          <a:solidFill>
            <a:srgbClr val="2B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E1318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722876"/>
            <a:ext cx="5943600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8EEF3"/>
                </a:solidFill>
                <a:latin typeface="Calibri"/>
              </a:rPr>
              <a:t>verify validates → { url }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AA8B4"/>
                </a:solidFill>
                <a:latin typeface="Calibri"/>
              </a:rPr>
              <a:t>verify checks the token with the IdP, binds pollus_id. 401 valyd_login_required if bad.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931920" y="5253228"/>
            <a:ext cx="0" cy="105156"/>
          </a:xfrm>
          <a:prstGeom prst="line">
            <a:avLst/>
          </a:prstGeom>
          <a:ln w="22225">
            <a:solidFill>
              <a:srgbClr val="2BD4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40080" y="5358384"/>
            <a:ext cx="6583680" cy="566928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37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49808" y="5477256"/>
            <a:ext cx="329184" cy="329184"/>
          </a:xfrm>
          <a:prstGeom prst="ellipse">
            <a:avLst/>
          </a:prstGeom>
          <a:solidFill>
            <a:srgbClr val="2B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E1318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7" y="5394960"/>
            <a:ext cx="5943600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8EEF3"/>
                </a:solidFill>
                <a:latin typeface="Calibri"/>
              </a:rPr>
              <a:t>Redirect the user to url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AA8B4"/>
                </a:solidFill>
                <a:latin typeface="Calibri"/>
              </a:rPr>
              <a:t>Popup or full-page. verify already knows who they are.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931920" y="5925312"/>
            <a:ext cx="0" cy="105156"/>
          </a:xfrm>
          <a:prstGeom prst="line">
            <a:avLst/>
          </a:prstGeom>
          <a:ln w="22225">
            <a:solidFill>
              <a:srgbClr val="2BD4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40080" y="6030468"/>
            <a:ext cx="6583680" cy="566928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37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49808" y="6149340"/>
            <a:ext cx="329184" cy="329184"/>
          </a:xfrm>
          <a:prstGeom prst="ellipse">
            <a:avLst/>
          </a:prstGeom>
          <a:solidFill>
            <a:srgbClr val="2B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E1318"/>
                </a:solidFill>
                <a:latin typeface="Calibr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07007" y="6067044"/>
            <a:ext cx="5943600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8EEF3"/>
                </a:solidFill>
                <a:latin typeface="Calibri"/>
              </a:rPr>
              <a:t>Read the result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AA8B4"/>
                </a:solidFill>
                <a:latin typeface="Calibri"/>
              </a:rPr>
              <a:t>Signed webhook + GET /session/{id}/decision. Reuse later via GET /api/v2/identity.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0960" y="1417320"/>
            <a:ext cx="3931920" cy="2286000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2B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82127" y="1517904"/>
            <a:ext cx="361188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D4C0"/>
                </a:solidFill>
                <a:latin typeface="Calibri"/>
              </a:rPr>
              <a:t>🔒 Stays server-side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EF3"/>
                </a:solidFill>
                <a:latin typeface="Calibri"/>
              </a:rPr>
              <a:t>client_secret</a:t>
            </a:r>
            <a:r>
              <a:rPr sz="1100" b="0">
                <a:solidFill>
                  <a:srgbClr val="9AA8B4"/>
                </a:solidFill>
                <a:latin typeface="Calibri"/>
              </a:rPr>
              <a:t> · </a:t>
            </a:r>
            <a:r>
              <a:rPr sz="1100" b="1">
                <a:solidFill>
                  <a:srgbClr val="E8EEF3"/>
                </a:solidFill>
                <a:latin typeface="Calibri"/>
              </a:rPr>
              <a:t>verify API key</a:t>
            </a:r>
            <a:r>
              <a:rPr sz="1100" b="0">
                <a:solidFill>
                  <a:srgbClr val="9AA8B4"/>
                </a:solidFill>
                <a:latin typeface="Calibri"/>
              </a:rPr>
              <a:t> · </a:t>
            </a:r>
            <a:r>
              <a:rPr sz="1100" b="1">
                <a:solidFill>
                  <a:srgbClr val="E8EEF3"/>
                </a:solidFill>
                <a:latin typeface="Calibri"/>
              </a:rPr>
              <a:t>valyd_access_token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8B4"/>
                </a:solidFill>
                <a:latin typeface="Calibri"/>
              </a:rPr>
              <a:t>The browser only ever sees the session url. The token is passed backend→verify, never in a URL.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80960" y="3886200"/>
            <a:ext cx="3931920" cy="2011680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37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82127" y="3986784"/>
            <a:ext cx="361188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0A33C"/>
                </a:solidFill>
                <a:latin typeface="Calibri"/>
              </a:rPr>
              <a:t>Result payload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EF3"/>
                </a:solidFill>
                <a:latin typeface="Calibri"/>
              </a:rPr>
              <a:t>decision</a:t>
            </a:r>
            <a:r>
              <a:rPr sz="1050" b="0">
                <a:solidFill>
                  <a:srgbClr val="9AA8B4"/>
                </a:solidFill>
                <a:latin typeface="Calibri"/>
              </a:rPr>
              <a:t> → status + checks[]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EF3"/>
                </a:solidFill>
                <a:latin typeface="Calibri"/>
              </a:rPr>
              <a:t>identity</a:t>
            </a:r>
            <a:r>
              <a:rPr sz="1050" b="0">
                <a:solidFill>
                  <a:srgbClr val="9AA8B4"/>
                </a:solidFill>
                <a:latin typeface="Calibri"/>
              </a:rPr>
              <a:t> → profile + licenses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8B4"/>
                </a:solidFill>
                <a:latin typeface="Calibri"/>
              </a:rPr>
              <a:t>(never raw ID images)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89CFF"/>
                </a:solidFill>
                <a:latin typeface="Calibri"/>
              </a:rPr>
              <a:t>② 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E8EEF3"/>
                </a:solidFill>
                <a:latin typeface="Calibri"/>
              </a:rPr>
              <a:t>What the end user experiences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005840" cy="41148"/>
          </a:xfrm>
          <a:prstGeom prst="rect">
            <a:avLst/>
          </a:prstGeom>
          <a:solidFill>
            <a:srgbClr val="B8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852160" cy="603504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37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463040"/>
            <a:ext cx="329184" cy="329184"/>
          </a:xfrm>
          <a:prstGeom prst="ellipse">
            <a:avLst/>
          </a:prstGeom>
          <a:solidFill>
            <a:srgbClr val="B8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E131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1362456"/>
            <a:ext cx="52120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8EEF3"/>
                </a:solidFill>
                <a:latin typeface="Calibri"/>
              </a:rPr>
              <a:t>Click 'Login with Valyd'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AA8B4"/>
                </a:solidFill>
                <a:latin typeface="Calibri"/>
              </a:rPr>
              <a:t>On the developer's site.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66160" y="1929384"/>
            <a:ext cx="0" cy="118871"/>
          </a:xfrm>
          <a:prstGeom prst="line">
            <a:avLst/>
          </a:prstGeom>
          <a:ln w="22225">
            <a:solidFill>
              <a:srgbClr val="B89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2048256"/>
            <a:ext cx="5852160" cy="603504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37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2185416"/>
            <a:ext cx="329184" cy="329184"/>
          </a:xfrm>
          <a:prstGeom prst="ellipse">
            <a:avLst/>
          </a:prstGeom>
          <a:solidFill>
            <a:srgbClr val="B8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E131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2084832"/>
            <a:ext cx="52120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8EEF3"/>
                </a:solidFill>
                <a:latin typeface="Calibri"/>
              </a:rPr>
              <a:t>Authenticate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AA8B4"/>
                </a:solidFill>
                <a:latin typeface="Calibri"/>
              </a:rPr>
              <a:t>Face login if no Valyd session; silent SSO if already signed in.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66160" y="2651760"/>
            <a:ext cx="0" cy="118872"/>
          </a:xfrm>
          <a:prstGeom prst="line">
            <a:avLst/>
          </a:prstGeom>
          <a:ln w="22225">
            <a:solidFill>
              <a:srgbClr val="B89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" y="2770632"/>
            <a:ext cx="5852160" cy="603504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37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2907792"/>
            <a:ext cx="329184" cy="329184"/>
          </a:xfrm>
          <a:prstGeom prst="ellipse">
            <a:avLst/>
          </a:prstGeom>
          <a:solidFill>
            <a:srgbClr val="B8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E1318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2807208"/>
            <a:ext cx="52120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8EEF3"/>
                </a:solidFill>
                <a:latin typeface="Calibri"/>
              </a:rPr>
              <a:t>Logged in on the app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AA8B4"/>
                </a:solidFill>
                <a:latin typeface="Calibri"/>
              </a:rPr>
              <a:t>Back on the dev's site, now signed in.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66160" y="3374136"/>
            <a:ext cx="0" cy="118872"/>
          </a:xfrm>
          <a:prstGeom prst="line">
            <a:avLst/>
          </a:prstGeom>
          <a:ln w="22225">
            <a:solidFill>
              <a:srgbClr val="B89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" y="3493008"/>
            <a:ext cx="5852160" cy="603504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37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3630168"/>
            <a:ext cx="329184" cy="329184"/>
          </a:xfrm>
          <a:prstGeom prst="ellipse">
            <a:avLst/>
          </a:prstGeom>
          <a:solidFill>
            <a:srgbClr val="B8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E1318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529584"/>
            <a:ext cx="52120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8EEF3"/>
                </a:solidFill>
                <a:latin typeface="Calibri"/>
              </a:rPr>
              <a:t>Click 'Verify my license / KYC'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AA8B4"/>
                </a:solidFill>
                <a:latin typeface="Calibri"/>
              </a:rPr>
              <a:t>The verify page opens (popup / redirect).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51960"/>
            <a:ext cx="5852160" cy="457200"/>
          </a:xfrm>
          <a:prstGeom prst="roundRect">
            <a:avLst/>
          </a:prstGeom>
          <a:solidFill>
            <a:srgbClr val="242C36"/>
          </a:solidFill>
          <a:ln w="12700">
            <a:solidFill>
              <a:srgbClr val="B8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88536"/>
            <a:ext cx="56692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8EEF3"/>
                </a:solidFill>
                <a:latin typeface="Calibri"/>
              </a:rPr>
              <a:t>verify already knows who you are — no second login. Then: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194560" y="4709160"/>
            <a:ext cx="1371600" cy="320040"/>
          </a:xfrm>
          <a:prstGeom prst="line">
            <a:avLst/>
          </a:prstGeom>
          <a:ln w="22225">
            <a:solidFill>
              <a:srgbClr val="B89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66160" y="4709160"/>
            <a:ext cx="1371600" cy="320040"/>
          </a:xfrm>
          <a:prstGeom prst="line">
            <a:avLst/>
          </a:prstGeom>
          <a:ln w="22225">
            <a:solidFill>
              <a:srgbClr val="B89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" y="5074920"/>
            <a:ext cx="2743200" cy="868680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2B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148072"/>
            <a:ext cx="24688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2BD4C0"/>
                </a:solidFill>
                <a:latin typeface="Calibri"/>
              </a:rPr>
              <a:t>Returning user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AA8B4"/>
                </a:solidFill>
                <a:latin typeface="Calibri"/>
              </a:rPr>
              <a:t>Selfie only — matched to stored face. No ID re-scan.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9039" y="5074920"/>
            <a:ext cx="2743200" cy="868680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37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5148072"/>
            <a:ext cx="24688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E8EEF3"/>
                </a:solidFill>
                <a:latin typeface="Calibri"/>
              </a:rPr>
              <a:t>First time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AA8B4"/>
                </a:solidFill>
                <a:latin typeface="Calibri"/>
              </a:rPr>
              <a:t>Full workflow: ID + selfie + license + …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011680" y="5943600"/>
            <a:ext cx="1554480" cy="274320"/>
          </a:xfrm>
          <a:prstGeom prst="line">
            <a:avLst/>
          </a:prstGeom>
          <a:ln w="22225">
            <a:solidFill>
              <a:srgbClr val="B89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3566160" y="5943600"/>
            <a:ext cx="1554480" cy="274320"/>
          </a:xfrm>
          <a:prstGeom prst="line">
            <a:avLst/>
          </a:prstGeom>
          <a:ln w="22225">
            <a:solidFill>
              <a:srgbClr val="B89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194560" y="6263640"/>
            <a:ext cx="2743200" cy="502920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2B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6300216"/>
            <a:ext cx="2743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BD4C0"/>
                </a:solidFill>
                <a:latin typeface="Calibri"/>
              </a:rPr>
              <a:t>✅  Approved → back to the app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1417320"/>
            <a:ext cx="4572000" cy="4206240"/>
          </a:xfrm>
          <a:prstGeom prst="roundRect">
            <a:avLst/>
          </a:prstGeom>
          <a:solidFill>
            <a:srgbClr val="1B232C"/>
          </a:solidFill>
          <a:ln w="12700">
            <a:solidFill>
              <a:srgbClr val="2B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80" y="1554480"/>
            <a:ext cx="4206240" cy="4023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BD4C0"/>
                </a:solidFill>
                <a:latin typeface="Calibri"/>
              </a:rPr>
              <a:t>The payoff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600" b="0">
                <a:solidFill>
                  <a:srgbClr val="9AA8B4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E8EEF3"/>
                </a:solidFill>
                <a:latin typeface="Calibri"/>
              </a:rPr>
              <a:t>• Verify once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AA8B4"/>
                </a:solidFill>
                <a:latin typeface="Calibri"/>
              </a:rPr>
              <a:t>The verified result joins the user's Valyd identity.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500" b="0">
                <a:solidFill>
                  <a:srgbClr val="9AA8B4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E8EEF3"/>
                </a:solidFill>
                <a:latin typeface="Calibri"/>
              </a:rPr>
              <a:t>• Reuse everywhere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AA8B4"/>
                </a:solidFill>
                <a:latin typeface="Calibri"/>
              </a:rPr>
              <a:t>Other Valyd apps and future visits reuse it — no re-capture.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500" b="0">
                <a:solidFill>
                  <a:srgbClr val="9AA8B4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E8EEF3"/>
                </a:solidFill>
                <a:latin typeface="Calibri"/>
              </a:rPr>
              <a:t>• Returning = selfie only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AA8B4"/>
                </a:solidFill>
                <a:latin typeface="Calibri"/>
              </a:rPr>
              <a:t>A quick face match instead of a full KYC.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500" b="0">
                <a:solidFill>
                  <a:srgbClr val="9AA8B4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E0A33C"/>
                </a:solidFill>
                <a:latin typeface="Calibri"/>
              </a:rPr>
              <a:t>⚠ Not logged in?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AA8B4"/>
                </a:solidFill>
                <a:latin typeface="Calibri"/>
              </a:rPr>
              <a:t>verify shows 'Sign in with Valyd first' and sends them back to the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0A33C"/>
                </a:solidFill>
                <a:latin typeface="Calibri"/>
              </a:rPr>
              <a:t>③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E8EEF3"/>
                </a:solidFill>
                <a:latin typeface="Calibri"/>
              </a:rPr>
              <a:t>Where data lives &amp; how it 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005840" cy="41148"/>
          </a:xfrm>
          <a:prstGeom prst="rect">
            <a:avLst/>
          </a:prstGeom>
          <a:solidFill>
            <a:srgbClr val="E0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011680" cy="384048"/>
          </a:xfrm>
          <a:prstGeom prst="roundRect">
            <a:avLst/>
          </a:prstGeom>
          <a:solidFill>
            <a:srgbClr val="242C36"/>
          </a:solidFill>
          <a:ln w="12700">
            <a:solidFill>
              <a:srgbClr val="2B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201168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8EEF3"/>
                </a:solidFill>
                <a:latin typeface="Calibri"/>
              </a:rPr>
              <a:t>End user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63040" y="1755648"/>
            <a:ext cx="0" cy="4370832"/>
          </a:xfrm>
          <a:prstGeom prst="line">
            <a:avLst/>
          </a:prstGeom>
          <a:ln w="12700">
            <a:solidFill>
              <a:srgbClr val="37444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00399" y="1371600"/>
            <a:ext cx="2011680" cy="384048"/>
          </a:xfrm>
          <a:prstGeom prst="roundRect">
            <a:avLst/>
          </a:prstGeom>
          <a:solidFill>
            <a:srgbClr val="242C36"/>
          </a:solidFill>
          <a:ln w="12700">
            <a:solidFill>
              <a:srgbClr val="B8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399" y="1389888"/>
            <a:ext cx="201168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8EEF3"/>
                </a:solidFill>
                <a:latin typeface="Calibri"/>
              </a:rPr>
              <a:t>Dev backend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6240" y="1755648"/>
            <a:ext cx="0" cy="4370832"/>
          </a:xfrm>
          <a:prstGeom prst="line">
            <a:avLst/>
          </a:prstGeom>
          <a:ln w="12700">
            <a:solidFill>
              <a:srgbClr val="37444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17920" y="1371600"/>
            <a:ext cx="2011680" cy="384048"/>
          </a:xfrm>
          <a:prstGeom prst="roundRect">
            <a:avLst/>
          </a:prstGeom>
          <a:solidFill>
            <a:srgbClr val="242C36"/>
          </a:solidFill>
          <a:ln w="12700">
            <a:solidFill>
              <a:srgbClr val="2B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89888"/>
            <a:ext cx="201168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8EEF3"/>
                </a:solidFill>
                <a:latin typeface="Calibri"/>
              </a:rPr>
              <a:t>IdP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23760" y="1755648"/>
            <a:ext cx="0" cy="4370832"/>
          </a:xfrm>
          <a:prstGeom prst="line">
            <a:avLst/>
          </a:prstGeom>
          <a:ln w="12700">
            <a:solidFill>
              <a:srgbClr val="37444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52560" y="1371600"/>
            <a:ext cx="2011680" cy="384048"/>
          </a:xfrm>
          <a:prstGeom prst="roundRect">
            <a:avLst/>
          </a:prstGeom>
          <a:solidFill>
            <a:srgbClr val="242C36"/>
          </a:solidFill>
          <a:ln w="12700">
            <a:solidFill>
              <a:srgbClr val="E0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389888"/>
            <a:ext cx="201168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8EEF3"/>
                </a:solidFill>
                <a:latin typeface="Calibri"/>
              </a:rPr>
              <a:t>verify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58400" y="1755648"/>
            <a:ext cx="0" cy="4370832"/>
          </a:xfrm>
          <a:prstGeom prst="line">
            <a:avLst/>
          </a:prstGeom>
          <a:ln w="12700">
            <a:solidFill>
              <a:srgbClr val="37444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63040" y="2148840"/>
            <a:ext cx="2743200" cy="0"/>
          </a:xfrm>
          <a:prstGeom prst="line">
            <a:avLst/>
          </a:prstGeom>
          <a:ln w="19050">
            <a:solidFill>
              <a:srgbClr val="2BD4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463040" y="1856232"/>
            <a:ext cx="2743199" cy="274320"/>
          </a:xfrm>
          <a:prstGeom prst="rect">
            <a:avLst/>
          </a:prstGeom>
          <a:noFill/>
        </p:spPr>
        <p:txBody>
          <a:bodyPr wrap="square" anchor="b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8EEF3"/>
                </a:solidFill>
                <a:latin typeface="Calibri"/>
              </a:rPr>
              <a:t>1  Login with Valyd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06240" y="2537460"/>
            <a:ext cx="3017520" cy="0"/>
          </a:xfrm>
          <a:prstGeom prst="line">
            <a:avLst/>
          </a:prstGeom>
          <a:ln w="19050">
            <a:solidFill>
              <a:srgbClr val="B89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06240" y="2244852"/>
            <a:ext cx="3017520" cy="274320"/>
          </a:xfrm>
          <a:prstGeom prst="rect">
            <a:avLst/>
          </a:prstGeom>
          <a:noFill/>
        </p:spPr>
        <p:txBody>
          <a:bodyPr wrap="square" anchor="b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8EEF3"/>
                </a:solidFill>
                <a:latin typeface="Calibri"/>
              </a:rPr>
              <a:t>2  authorize (client_id, scopes)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4206240" y="2926079"/>
            <a:ext cx="3017520" cy="0"/>
          </a:xfrm>
          <a:prstGeom prst="line">
            <a:avLst/>
          </a:prstGeom>
          <a:ln w="19050">
            <a:solidFill>
              <a:srgbClr val="2BD4C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06240" y="2633472"/>
            <a:ext cx="3017520" cy="274320"/>
          </a:xfrm>
          <a:prstGeom prst="rect">
            <a:avLst/>
          </a:prstGeom>
          <a:noFill/>
        </p:spPr>
        <p:txBody>
          <a:bodyPr wrap="square" anchor="b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8EEF3"/>
                </a:solidFill>
                <a:latin typeface="Calibri"/>
              </a:rPr>
              <a:t>3  code  →  POST /tpsso/token  →  access_token + pollus_id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463040" y="3314699"/>
            <a:ext cx="2743200" cy="0"/>
          </a:xfrm>
          <a:prstGeom prst="line">
            <a:avLst/>
          </a:prstGeom>
          <a:ln w="19050">
            <a:solidFill>
              <a:srgbClr val="2BD4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463040" y="3022091"/>
            <a:ext cx="2743199" cy="274320"/>
          </a:xfrm>
          <a:prstGeom prst="rect">
            <a:avLst/>
          </a:prstGeom>
          <a:noFill/>
        </p:spPr>
        <p:txBody>
          <a:bodyPr wrap="square" anchor="b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8EEF3"/>
                </a:solidFill>
                <a:latin typeface="Calibri"/>
              </a:rPr>
              <a:t>4  'Verify my license'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06240" y="3703320"/>
            <a:ext cx="5852160" cy="0"/>
          </a:xfrm>
          <a:prstGeom prst="line">
            <a:avLst/>
          </a:prstGeom>
          <a:ln w="19050">
            <a:solidFill>
              <a:srgbClr val="B89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206240" y="3410712"/>
            <a:ext cx="5852160" cy="274320"/>
          </a:xfrm>
          <a:prstGeom prst="rect">
            <a:avLst/>
          </a:prstGeom>
          <a:noFill/>
        </p:spPr>
        <p:txBody>
          <a:bodyPr wrap="square" anchor="b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8EEF3"/>
                </a:solidFill>
                <a:latin typeface="Calibri"/>
              </a:rPr>
              <a:t>5  POST /api/v2/session  (X-API-Key + valyd_access_token)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223760" y="4091939"/>
            <a:ext cx="2834640" cy="0"/>
          </a:xfrm>
          <a:prstGeom prst="line">
            <a:avLst/>
          </a:prstGeom>
          <a:ln w="19050">
            <a:solidFill>
              <a:srgbClr val="E0A3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223760" y="3799331"/>
            <a:ext cx="2834639" cy="274320"/>
          </a:xfrm>
          <a:prstGeom prst="rect">
            <a:avLst/>
          </a:prstGeom>
          <a:noFill/>
        </p:spPr>
        <p:txBody>
          <a:bodyPr wrap="square" anchor="b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8EEF3"/>
                </a:solidFill>
                <a:latin typeface="Calibri"/>
              </a:rPr>
              <a:t>6  GET /tpsso/userinfo (validate token)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223760" y="4480559"/>
            <a:ext cx="2834640" cy="0"/>
          </a:xfrm>
          <a:prstGeom prst="line">
            <a:avLst/>
          </a:prstGeom>
          <a:ln w="19050">
            <a:solidFill>
              <a:srgbClr val="2BD4C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223760" y="4187951"/>
            <a:ext cx="2834639" cy="274320"/>
          </a:xfrm>
          <a:prstGeom prst="rect">
            <a:avLst/>
          </a:prstGeom>
          <a:noFill/>
        </p:spPr>
        <p:txBody>
          <a:bodyPr wrap="square" anchor="b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8EEF3"/>
                </a:solidFill>
                <a:latin typeface="Calibri"/>
              </a:rPr>
              <a:t>7  pollus_id  (proof of login)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463040" y="4869179"/>
            <a:ext cx="8595360" cy="0"/>
          </a:xfrm>
          <a:prstGeom prst="line">
            <a:avLst/>
          </a:prstGeom>
          <a:ln w="19050">
            <a:solidFill>
              <a:srgbClr val="E0A33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463040" y="4576571"/>
            <a:ext cx="8595360" cy="274320"/>
          </a:xfrm>
          <a:prstGeom prst="rect">
            <a:avLst/>
          </a:prstGeom>
          <a:noFill/>
        </p:spPr>
        <p:txBody>
          <a:bodyPr wrap="square" anchor="b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8EEF3"/>
                </a:solidFill>
                <a:latin typeface="Calibri"/>
              </a:rPr>
              <a:t>8  { url } → capture ID / selfie / license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223760" y="5257799"/>
            <a:ext cx="2834640" cy="0"/>
          </a:xfrm>
          <a:prstGeom prst="line">
            <a:avLst/>
          </a:prstGeom>
          <a:ln w="19050">
            <a:solidFill>
              <a:srgbClr val="E0A3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223760" y="4965191"/>
            <a:ext cx="2834639" cy="274320"/>
          </a:xfrm>
          <a:prstGeom prst="rect">
            <a:avLst/>
          </a:prstGeom>
          <a:noFill/>
        </p:spPr>
        <p:txBody>
          <a:bodyPr wrap="square" anchor="b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8EEF3"/>
                </a:solidFill>
                <a:latin typeface="Calibri"/>
              </a:rPr>
              <a:t>9  write back: id_verified + verified license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4206240" y="5646419"/>
            <a:ext cx="5852160" cy="0"/>
          </a:xfrm>
          <a:prstGeom prst="line">
            <a:avLst/>
          </a:prstGeom>
          <a:ln w="19050">
            <a:solidFill>
              <a:srgbClr val="2BD4C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206240" y="5353811"/>
            <a:ext cx="5852160" cy="274320"/>
          </a:xfrm>
          <a:prstGeom prst="rect">
            <a:avLst/>
          </a:prstGeom>
          <a:noFill/>
        </p:spPr>
        <p:txBody>
          <a:bodyPr wrap="square" anchor="b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8EEF3"/>
                </a:solidFill>
                <a:latin typeface="Calibri"/>
              </a:rPr>
              <a:t>10  webhook + decision/identity API → profile + licenses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1430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BD4C0"/>
                </a:solidFill>
                <a:latin typeface="Calibri"/>
              </a:rPr>
              <a:t>Lives in IdP: </a:t>
            </a:r>
            <a:r>
              <a:rPr sz="1050" b="0">
                <a:solidFill>
                  <a:srgbClr val="9AA8B4"/>
                </a:solidFill>
                <a:latin typeface="Calibri"/>
              </a:rPr>
              <a:t>identity + verified result (system of record).   </a:t>
            </a:r>
            <a:r>
              <a:rPr sz="1050" b="1">
                <a:solidFill>
                  <a:srgbClr val="E0A33C"/>
                </a:solidFill>
                <a:latin typeface="Calibri"/>
              </a:rPr>
              <a:t>In verify: </a:t>
            </a:r>
            <a:r>
              <a:rPr sz="1050" b="0">
                <a:solidFill>
                  <a:srgbClr val="9AA8B4"/>
                </a:solidFill>
                <a:latin typeface="Calibri"/>
              </a:rPr>
              <a:t>transient images + a reusable copy.   </a:t>
            </a:r>
            <a:r>
              <a:rPr sz="1050" b="1">
                <a:solidFill>
                  <a:srgbClr val="B89CFF"/>
                </a:solidFill>
                <a:latin typeface="Calibri"/>
              </a:rPr>
              <a:t>In dev session: </a:t>
            </a:r>
            <a:r>
              <a:rPr sz="1050" b="0">
                <a:solidFill>
                  <a:srgbClr val="9AA8B4"/>
                </a:solidFill>
                <a:latin typeface="Calibri"/>
              </a:rPr>
              <a:t>the Valyd token (server-side).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